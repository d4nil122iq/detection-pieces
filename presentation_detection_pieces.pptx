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(199 img)</c:v>
                </c:pt>
              </c:strCache>
            </c:strRef>
          </c:tx>
          <c:spPr>
            <a:solidFill>
              <a:srgbClr val="0A54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Précision</c:v>
                  </c:pt>
                  <c:pt idx="1">
                    <c:v>Rappel</c:v>
                  </c:pt>
                  <c:pt idx="2">
                    <c:v>F1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82.29</c:v>
                </c:pt>
                <c:pt idx="1">
                  <c:v>83</c:v>
                </c:pt>
                <c:pt idx="2">
                  <c:v>82.64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(119 img)</c:v>
                </c:pt>
              </c:strCache>
            </c:strRef>
          </c:tx>
          <c:spPr>
            <a:solidFill>
              <a:srgbClr val="0F6E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Précision</c:v>
                  </c:pt>
                  <c:pt idx="1">
                    <c:v>Rappel</c:v>
                  </c:pt>
                  <c:pt idx="2">
                    <c:v>F1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84.86</c:v>
                </c:pt>
                <c:pt idx="1">
                  <c:v>81.62</c:v>
                </c:pt>
                <c:pt idx="2">
                  <c:v>83.21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7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par classe (test)</c:v>
                </c:pt>
              </c:strCache>
            </c:strRef>
          </c:tx>
          <c:spPr>
            <a:solidFill>
              <a:srgbClr val="0A54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545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545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a545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886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8860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8860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A7B9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A7B9D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1¢</c:v>
                  </c:pt>
                  <c:pt idx="1">
                    <c:v>2¢</c:v>
                  </c:pt>
                  <c:pt idx="2">
                    <c:v>5¢</c:v>
                  </c:pt>
                  <c:pt idx="3">
                    <c:v>10¢</c:v>
                  </c:pt>
                  <c:pt idx="4">
                    <c:v>20¢</c:v>
                  </c:pt>
                  <c:pt idx="5">
                    <c:v>50¢</c:v>
                  </c:pt>
                  <c:pt idx="6">
                    <c:v>1€</c:v>
                  </c:pt>
                  <c:pt idx="7">
                    <c:v>2€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48.6</c:v>
                </c:pt>
                <c:pt idx="1">
                  <c:v>40</c:v>
                </c:pt>
                <c:pt idx="2">
                  <c:v>30.5</c:v>
                </c:pt>
                <c:pt idx="3">
                  <c:v>27.4</c:v>
                </c:pt>
                <c:pt idx="4">
                  <c:v>32.5</c:v>
                </c:pt>
                <c:pt idx="5">
                  <c:v>39.3</c:v>
                </c:pt>
                <c:pt idx="6">
                  <c:v>33.9</c:v>
                </c:pt>
                <c:pt idx="7">
                  <c:v>49.3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560320" cy="2560320"/>
          </a:xfrm>
          <a:prstGeom prst="ellipse">
            <a:avLst/>
          </a:prstGeom>
          <a:solidFill>
            <a:srgbClr val="1A5556"/>
          </a:solidFill>
          <a:ln w="12700">
            <a:solidFill>
              <a:srgbClr val="1A55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560320"/>
            <a:ext cx="1828800" cy="1828800"/>
          </a:xfrm>
          <a:prstGeom prst="ellipse">
            <a:avLst/>
          </a:prstGeom>
          <a:solidFill>
            <a:srgbClr val="0D3233"/>
          </a:solidFill>
          <a:ln w="12700">
            <a:solidFill>
              <a:srgbClr val="0D32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3474720"/>
            <a:ext cx="1645920" cy="1645920"/>
          </a:xfrm>
          <a:prstGeom prst="ellipse">
            <a:avLst/>
          </a:prstGeom>
          <a:solidFill>
            <a:srgbClr val="0D3233"/>
          </a:solidFill>
          <a:ln w="12700">
            <a:solidFill>
              <a:srgbClr val="0D32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6E47"/>
          </a:solidFill>
          <a:ln w="12700">
            <a:solidFill>
              <a:srgbClr val="0F6E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4FB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Détection et Classification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4FB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Pièces d'Euros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28803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par ordinateur · Algorithmes classiques (OpenCV) · Sans deep learning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3337560"/>
            <a:ext cx="3657600" cy="36576"/>
          </a:xfrm>
          <a:prstGeom prst="rect">
            <a:avLst/>
          </a:prstGeom>
          <a:solidFill>
            <a:srgbClr val="0F6E47"/>
          </a:solidFill>
          <a:ln w="12700">
            <a:solidFill>
              <a:srgbClr val="0F6E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49300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fin d'année · Trinôme · Python 3 · OpenCV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4023360"/>
            <a:ext cx="502920" cy="50292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40965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1¢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83080" y="4023360"/>
            <a:ext cx="502920" cy="50292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3080" y="40965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2¢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4680" y="4023360"/>
            <a:ext cx="502920" cy="50292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40965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5¢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26280" y="4023360"/>
            <a:ext cx="502920" cy="50292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40965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10¢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4526280"/>
            <a:ext cx="502920" cy="50292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5994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20¢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783080" y="4526280"/>
            <a:ext cx="502920" cy="50292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83080" y="45994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50¢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54680" y="4526280"/>
            <a:ext cx="502920" cy="502920"/>
          </a:xfrm>
          <a:prstGeom prst="ellipse">
            <a:avLst/>
          </a:prstGeom>
          <a:solidFill>
            <a:srgbClr val="4A7B9D"/>
          </a:solidFill>
          <a:ln w="12700">
            <a:solidFill>
              <a:srgbClr val="4A7B9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45994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26280" y="4526280"/>
            <a:ext cx="502920" cy="502920"/>
          </a:xfrm>
          <a:prstGeom prst="ellipse">
            <a:avLst/>
          </a:prstGeom>
          <a:solidFill>
            <a:srgbClr val="4A7B9D"/>
          </a:solidFill>
          <a:ln w="12700">
            <a:solidFill>
              <a:srgbClr val="4A7B9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45994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2€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et Objectifs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143000"/>
            <a:ext cx="2743200" cy="109728"/>
          </a:xfrm>
          <a:prstGeom prst="rect">
            <a:avLst/>
          </a:prstGeom>
          <a:solidFill>
            <a:srgbClr val="0F6E47"/>
          </a:solidFill>
          <a:ln w="12700">
            <a:solidFill>
              <a:srgbClr val="0F6E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98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traité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709928"/>
            <a:ext cx="2468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et identifier automatiquement des pièces d'euros dans une photo, puis calculer le montant total présent dans la scène.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114300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1143000"/>
            <a:ext cx="2743200" cy="109728"/>
          </a:xfrm>
          <a:prstGeom prst="rect">
            <a:avLst/>
          </a:prstGeom>
          <a:solidFill>
            <a:srgbClr val="0F6E47"/>
          </a:solidFill>
          <a:ln w="12700">
            <a:solidFill>
              <a:srgbClr val="0F6E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298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fortes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709928"/>
            <a:ext cx="2468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Algorithmes classiques uniquement (OpenCV)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 de CNN ni d'apprentissage supervisé profond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 de calibration préalable (pas de pièce de référence)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14300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143000"/>
            <a:ext cx="2743200" cy="109728"/>
          </a:xfrm>
          <a:prstGeom prst="rect">
            <a:avLst/>
          </a:prstGeom>
          <a:solidFill>
            <a:srgbClr val="0F6E47"/>
          </a:solidFill>
          <a:ln w="12700">
            <a:solidFill>
              <a:srgbClr val="0F6E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298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de performance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709928"/>
            <a:ext cx="2468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initiale : 70% de précision en détection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obtenu : F1 = 83% en détection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: F1 = 37% (8 classes, sans CNN)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663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classes cibles :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0" y="4663440"/>
            <a:ext cx="749808" cy="320040"/>
          </a:xfrm>
          <a:prstGeom prst="roundRect">
            <a:avLst>
              <a:gd name="adj" fmla="val 14286"/>
            </a:avLst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4663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1¢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15768" y="4663440"/>
            <a:ext cx="749808" cy="320040"/>
          </a:xfrm>
          <a:prstGeom prst="roundRect">
            <a:avLst>
              <a:gd name="adj" fmla="val 14286"/>
            </a:avLst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15768" y="4663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2¢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02736" y="4663440"/>
            <a:ext cx="749808" cy="320040"/>
          </a:xfrm>
          <a:prstGeom prst="roundRect">
            <a:avLst>
              <a:gd name="adj" fmla="val 14286"/>
            </a:avLst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02736" y="4663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5¢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89704" y="4663440"/>
            <a:ext cx="749808" cy="320040"/>
          </a:xfrm>
          <a:prstGeom prst="roundRect">
            <a:avLst>
              <a:gd name="adj" fmla="val 14286"/>
            </a:avLst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9704" y="4663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10¢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76672" y="4663440"/>
            <a:ext cx="749808" cy="320040"/>
          </a:xfrm>
          <a:prstGeom prst="roundRect">
            <a:avLst>
              <a:gd name="adj" fmla="val 14286"/>
            </a:avLst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4663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20¢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4663440"/>
            <a:ext cx="749808" cy="320040"/>
          </a:xfrm>
          <a:prstGeom prst="roundRect">
            <a:avLst>
              <a:gd name="adj" fmla="val 14286"/>
            </a:avLst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4663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50¢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50608" y="4663440"/>
            <a:ext cx="749808" cy="320040"/>
          </a:xfrm>
          <a:prstGeom prst="roundRect">
            <a:avLst>
              <a:gd name="adj" fmla="val 14286"/>
            </a:avLst>
          </a:prstGeom>
          <a:solidFill>
            <a:srgbClr val="5F9EA0"/>
          </a:solidFill>
          <a:ln w="12700">
            <a:solidFill>
              <a:srgbClr val="5F9E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0608" y="4663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1€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37576" y="4663440"/>
            <a:ext cx="749808" cy="320040"/>
          </a:xfrm>
          <a:prstGeom prst="roundRect">
            <a:avLst>
              <a:gd name="adj" fmla="val 14286"/>
            </a:avLst>
          </a:prstGeom>
          <a:solidFill>
            <a:srgbClr val="5F9EA0"/>
          </a:solidFill>
          <a:ln w="12700">
            <a:solidFill>
              <a:srgbClr val="5F9E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37576" y="466344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2€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du dataset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3840480" cy="1005840"/>
          </a:xfrm>
          <a:prstGeom prst="rect">
            <a:avLst/>
          </a:prstGeom>
          <a:solidFill>
            <a:srgbClr val="0F6E47"/>
          </a:solidFill>
          <a:ln w="12700">
            <a:solidFill>
              <a:srgbClr val="0F6E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45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756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images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20756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 annotations JSON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6459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320040" y="2788920"/>
            <a:ext cx="3840480" cy="1005840"/>
          </a:xfrm>
          <a:prstGeom prst="rect">
            <a:avLst/>
          </a:prstGeom>
          <a:solidFill>
            <a:srgbClr val="0A5455"/>
          </a:solidFill>
          <a:ln w="12700">
            <a:solidFill>
              <a:srgbClr val="0A54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834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2644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 images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32644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 annotations JSON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8346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119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20040" y="4023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variées : éclairages, fonds, angles, densités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d'annotation (LabelMe)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1572768"/>
            <a:ext cx="4114800" cy="2103120"/>
          </a:xfrm>
          <a:prstGeom prst="rect">
            <a:avLst/>
          </a:prstGeom>
          <a:solidFill>
            <a:srgbClr val="1E2D2E"/>
          </a:solidFill>
          <a:ln w="12700">
            <a:solidFill>
              <a:srgbClr val="1E2D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164592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"shapes": [{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"label": "1cent",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"shape_type": "circle",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"points":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[cx, cy],   // centre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[ex, ey]    // bord → rayon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"imagePath": "img_001.jpg"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0" y="3749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: 1cent · 2cent · 5cent · 10cent · 20cent · 50cent · 1euro · 2euro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Réalignement automatique par empreinte visuelle 32×32px (script rename_bdd_annotations.py)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Global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188720"/>
            <a:ext cx="1572768" cy="3200400"/>
          </a:xfrm>
          <a:prstGeom prst="rect">
            <a:avLst/>
          </a:prstGeom>
          <a:solidFill>
            <a:srgbClr val="0A5455"/>
          </a:solidFill>
          <a:ln w="12700">
            <a:solidFill>
              <a:srgbClr val="0A54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29844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455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37744" y="1920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7744" y="2487168"/>
            <a:ext cx="1463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Redimension­nement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adaptatif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Flou médian + gaussien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55648" y="2560320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47088" y="2496312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38528" y="1188720"/>
            <a:ext cx="1572768" cy="3200400"/>
          </a:xfrm>
          <a:prstGeom prst="rect">
            <a:avLst/>
          </a:prstGeom>
          <a:solidFill>
            <a:srgbClr val="0F6E47"/>
          </a:solidFill>
          <a:ln w="12700">
            <a:solidFill>
              <a:srgbClr val="0F6E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29844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47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93392" y="1920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93392" y="2487168"/>
            <a:ext cx="1463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HoughCircles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passes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Gros plan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11296" y="2560320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02736" y="2496312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94176" y="1188720"/>
            <a:ext cx="1572768" cy="320040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06240" y="129844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3E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749040" y="1920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49040" y="2487168"/>
            <a:ext cx="1463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scores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2/4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par IoU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66944" y="2560320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58384" y="2496312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49824" y="1188720"/>
            <a:ext cx="1572768" cy="3200400"/>
          </a:xfrm>
          <a:prstGeom prst="rect">
            <a:avLst/>
          </a:prstGeom>
          <a:solidFill>
            <a:srgbClr val="1A5E3E"/>
          </a:solidFill>
          <a:ln w="12700">
            <a:solidFill>
              <a:srgbClr val="1A5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61888" y="129844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61888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E3E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04688" y="1920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04688" y="2487168"/>
            <a:ext cx="1463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pondéré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classifieurs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Cohérence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22592" y="2560320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14032" y="2496312"/>
            <a:ext cx="9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05472" y="1188720"/>
            <a:ext cx="1572768" cy="3200400"/>
          </a:xfrm>
          <a:prstGeom prst="rect">
            <a:avLst/>
          </a:prstGeom>
          <a:solidFill>
            <a:srgbClr val="2D7D50"/>
          </a:solidFill>
          <a:ln w="12700">
            <a:solidFill>
              <a:srgbClr val="2D7D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717536" y="129844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17536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7D50"/>
                </a:solidFill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60336" y="1920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260336" y="2487168"/>
            <a:ext cx="1463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Valeur/pièce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€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d'entrée → liste (valeur, confiance) + total en centimes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Étape 1 · Prétraitement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347472" cy="347472"/>
          </a:xfrm>
          <a:prstGeom prst="ellipse">
            <a:avLst/>
          </a:prstGeom>
          <a:solidFill>
            <a:srgbClr val="0F6E47"/>
          </a:solidFill>
          <a:ln w="12700">
            <a:solidFill>
              <a:srgbClr val="0F6E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1097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Redimensionnement (max 800px)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4447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les paramètres Hough indépendamment de la résolution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" y="1490472"/>
            <a:ext cx="0" cy="402336"/>
          </a:xfrm>
          <a:prstGeom prst="line">
            <a:avLst/>
          </a:prstGeom>
          <a:noFill/>
          <a:ln w="19050">
            <a:solidFill>
              <a:srgbClr val="CCE8D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74320" y="1892808"/>
            <a:ext cx="347472" cy="347472"/>
          </a:xfrm>
          <a:prstGeom prst="ellipse">
            <a:avLst/>
          </a:prstGeom>
          <a:solidFill>
            <a:srgbClr val="0F6E47"/>
          </a:solidFill>
          <a:ln w="12700">
            <a:solidFill>
              <a:srgbClr val="0F6E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92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18470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BGR → LAB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2194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Sépare la luminance des composantes couleur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" y="2240280"/>
            <a:ext cx="0" cy="402336"/>
          </a:xfrm>
          <a:prstGeom prst="line">
            <a:avLst/>
          </a:prstGeom>
          <a:noFill/>
          <a:ln w="19050">
            <a:solidFill>
              <a:srgbClr val="CCE8DE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74320" y="2642616"/>
            <a:ext cx="347472" cy="347472"/>
          </a:xfrm>
          <a:prstGeom prst="ellipse">
            <a:avLst/>
          </a:prstGeom>
          <a:solidFill>
            <a:srgbClr val="0F6E47"/>
          </a:solidFill>
          <a:ln w="12700">
            <a:solidFill>
              <a:srgbClr val="0F6E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642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5968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adaptatif sur canal 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" y="29443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Améliore le contraste local selon l'exposition (sombre/normal/clair)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" y="2990088"/>
            <a:ext cx="0" cy="402336"/>
          </a:xfrm>
          <a:prstGeom prst="line">
            <a:avLst/>
          </a:prstGeom>
          <a:noFill/>
          <a:ln w="19050">
            <a:solidFill>
              <a:srgbClr val="CCE8DE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74320" y="3392424"/>
            <a:ext cx="347472" cy="347472"/>
          </a:xfrm>
          <a:prstGeom prst="ellipse">
            <a:avLst/>
          </a:prstGeom>
          <a:solidFill>
            <a:srgbClr val="0F6E47"/>
          </a:solidFill>
          <a:ln w="12700">
            <a:solidFill>
              <a:srgbClr val="0F6E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392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" y="33467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Flou médian (kernel 15)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" y="36941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Réduit le bruit de texture (bois, tissu, fond texturé)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8056" y="3739896"/>
            <a:ext cx="0" cy="402336"/>
          </a:xfrm>
          <a:prstGeom prst="line">
            <a:avLst/>
          </a:prstGeom>
          <a:noFill/>
          <a:ln w="19050">
            <a:solidFill>
              <a:srgbClr val="CCE8DE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274320" y="4142232"/>
            <a:ext cx="347472" cy="347472"/>
          </a:xfrm>
          <a:prstGeom prst="ellipse">
            <a:avLst/>
          </a:prstGeom>
          <a:solidFill>
            <a:srgbClr val="0F6E47"/>
          </a:solidFill>
          <a:ln w="12700">
            <a:solidFill>
              <a:srgbClr val="0F6E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142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" y="40965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Flou gaussien (kernel 11)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" y="44439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Lisse pour éviter de faux bords dans Hough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74920" y="1097280"/>
            <a:ext cx="3840480" cy="374904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212080" y="12070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CLAHE adaptatif 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12080" y="169164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L'égalisation classique (globale) sur-amplifie le contraste dans les zones déjà bien éclairées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12080" y="240487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opère sur des tuiles locales (8×8) avec une limite de contraste (clipLimit)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311810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contours nets même avec un éclairage hétérogène ou une pièce peu contrastée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3831336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clip est ajusté automatiquement : sombre → 4.0 · normal → 2.5 · surexposé → 1.2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Étape 2 · Détection Hough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972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HoughCircles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81328"/>
            <a:ext cx="1097280" cy="365760"/>
          </a:xfrm>
          <a:prstGeom prst="rect">
            <a:avLst/>
          </a:prstGeom>
          <a:solidFill>
            <a:srgbClr val="0F6E47"/>
          </a:solidFill>
          <a:ln w="12700">
            <a:solidFill>
              <a:srgbClr val="CCE8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" y="15361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35608" y="1481328"/>
            <a:ext cx="1371600" cy="365760"/>
          </a:xfrm>
          <a:prstGeom prst="rect">
            <a:avLst/>
          </a:prstGeom>
          <a:solidFill>
            <a:srgbClr val="0F6E47"/>
          </a:solidFill>
          <a:ln w="12700">
            <a:solidFill>
              <a:srgbClr val="CCE8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90472" y="15361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1481328"/>
            <a:ext cx="1828800" cy="365760"/>
          </a:xfrm>
          <a:prstGeom prst="rect">
            <a:avLst/>
          </a:prstGeom>
          <a:solidFill>
            <a:srgbClr val="0F6E47"/>
          </a:solidFill>
          <a:ln w="12700">
            <a:solidFill>
              <a:srgbClr val="CCE8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9504" y="1536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865376"/>
            <a:ext cx="10972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8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" y="1920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435608" y="1865376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8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90472" y="1920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34640" y="1865376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8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89504" y="1920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accumulateur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249424"/>
            <a:ext cx="1097280" cy="365760"/>
          </a:xfrm>
          <a:prstGeom prst="rect">
            <a:avLst/>
          </a:prstGeom>
          <a:solidFill>
            <a:srgbClr val="EEF8F3"/>
          </a:solidFill>
          <a:ln w="12700">
            <a:solidFill>
              <a:srgbClr val="CCE8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" y="23042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435608" y="2249424"/>
            <a:ext cx="1371600" cy="365760"/>
          </a:xfrm>
          <a:prstGeom prst="rect">
            <a:avLst/>
          </a:prstGeom>
          <a:solidFill>
            <a:srgbClr val="EEF8F3"/>
          </a:solidFill>
          <a:ln w="12700">
            <a:solidFill>
              <a:srgbClr val="CCE8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90472" y="23042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34640" y="2249424"/>
            <a:ext cx="1828800" cy="365760"/>
          </a:xfrm>
          <a:prstGeom prst="rect">
            <a:avLst/>
          </a:prstGeom>
          <a:solidFill>
            <a:srgbClr val="EEF8F3"/>
          </a:solidFill>
          <a:ln w="12700">
            <a:solidFill>
              <a:srgbClr val="CCE8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9504" y="23042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haut Canny interne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633472"/>
            <a:ext cx="10972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8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" y="26883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435608" y="2633472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8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90472" y="26883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34640" y="2633472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8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9504" y="26883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accumulateur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017520"/>
            <a:ext cx="1097280" cy="365760"/>
          </a:xfrm>
          <a:prstGeom prst="rect">
            <a:avLst/>
          </a:prstGeom>
          <a:solidFill>
            <a:srgbClr val="EEF8F3"/>
          </a:solidFill>
          <a:ln w="12700">
            <a:solidFill>
              <a:srgbClr val="CCE8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" y="30723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minDist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435608" y="3017520"/>
            <a:ext cx="1371600" cy="365760"/>
          </a:xfrm>
          <a:prstGeom prst="rect">
            <a:avLst/>
          </a:prstGeom>
          <a:solidFill>
            <a:srgbClr val="EEF8F3"/>
          </a:solidFill>
          <a:ln w="12700">
            <a:solidFill>
              <a:srgbClr val="CCE8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90472" y="30723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taille img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834640" y="3017520"/>
            <a:ext cx="1828800" cy="365760"/>
          </a:xfrm>
          <a:prstGeom prst="rect">
            <a:avLst/>
          </a:prstGeom>
          <a:solidFill>
            <a:srgbClr val="EEF8F3"/>
          </a:solidFill>
          <a:ln w="12700">
            <a:solidFill>
              <a:srgbClr val="CCE8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89504" y="30723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min entre centres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401568"/>
            <a:ext cx="10972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8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904" y="34564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minRadius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435608" y="3401568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8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90472" y="34564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taille img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834640" y="3401568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8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89504" y="34564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Rayon minimum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3785616"/>
            <a:ext cx="1097280" cy="365760"/>
          </a:xfrm>
          <a:prstGeom prst="rect">
            <a:avLst/>
          </a:prstGeom>
          <a:solidFill>
            <a:srgbClr val="EEF8F3"/>
          </a:solidFill>
          <a:ln w="12700">
            <a:solidFill>
              <a:srgbClr val="CCE8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4904" y="38404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maxRadius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435608" y="3785616"/>
            <a:ext cx="1371600" cy="365760"/>
          </a:xfrm>
          <a:prstGeom prst="rect">
            <a:avLst/>
          </a:prstGeom>
          <a:solidFill>
            <a:srgbClr val="EEF8F3"/>
          </a:solidFill>
          <a:ln w="12700">
            <a:solidFill>
              <a:srgbClr val="CCE8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90472" y="3840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taille img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834640" y="3785616"/>
            <a:ext cx="1828800" cy="365760"/>
          </a:xfrm>
          <a:prstGeom prst="rect">
            <a:avLst/>
          </a:prstGeom>
          <a:solidFill>
            <a:srgbClr val="EEF8F3"/>
          </a:solidFill>
          <a:ln w="12700">
            <a:solidFill>
              <a:srgbClr val="CCE8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89504" y="38404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Rayon maximum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0" y="1097280"/>
            <a:ext cx="4251960" cy="1325880"/>
          </a:xfrm>
          <a:prstGeom prst="rect">
            <a:avLst/>
          </a:prstGeom>
          <a:solidFill>
            <a:srgbClr val="FFF8E1"/>
          </a:solidFill>
          <a:ln w="12700">
            <a:solidFill>
              <a:srgbClr val="F0C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709160" y="11612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 de secours (fallback)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709160" y="15087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aucun cercle n'est détecté en 1ère passe 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param2 abaissé : 40 → 28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minRadius : 3% → 2% · maxRadius : 30% → 35%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Traite les pièces très petites ou peu contrastées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572000" y="2560320"/>
            <a:ext cx="42519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709160" y="26243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Dédoublonnage géométrique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709160" y="299923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 trop proches + rayons similaires → même pièce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709160" y="336499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 cercle dans un grand → anneau intérieur rejeté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709160" y="373075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Cercles emboîtés (1.45× ratio) → plus petit supprimé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709160" y="409651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Rayon &gt; 1.85× médiane (si ≥4 pièces) → faux positif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709160" y="446227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gros plan : fusionne les petits cercles concentrés en un seul cercle englobant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Étape 3 · Validation et NMS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4069080" cy="1508760"/>
          </a:xfrm>
          <a:prstGeom prst="rect">
            <a:avLst/>
          </a:prstGeom>
          <a:solidFill>
            <a:srgbClr val="0A5455"/>
          </a:solidFill>
          <a:ln w="12700">
            <a:solidFill>
              <a:srgbClr val="0A54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Score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Sobel le long du périmètre.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vrai bord de pièce produit un gradient fort et continu.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: &gt; 0.20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4069080" cy="1508760"/>
          </a:xfrm>
          <a:prstGeom prst="rect">
            <a:avLst/>
          </a:prstGeom>
          <a:solidFill>
            <a:srgbClr val="0F6E47"/>
          </a:solidFill>
          <a:ln w="12700">
            <a:solidFill>
              <a:srgbClr val="0F6E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Metallic Score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600200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Intérieur du cercle cohérent avec du métal 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luminosité modérée (V 50–245)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 faible à modérée (S ≤ 190)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: &gt; 0.28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2788920"/>
            <a:ext cx="4069080" cy="1508760"/>
          </a:xfrm>
          <a:prstGeom prst="rect">
            <a:avLst/>
          </a:prstGeom>
          <a:solidFill>
            <a:srgbClr val="1A5E3E"/>
          </a:solidFill>
          <a:ln w="12700">
            <a:solidFill>
              <a:srgbClr val="1A5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898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Coverage Score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291840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du disque dans l'image.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Rejette les pièces tronquées ou hors cadre.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: &gt; 0.55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2788920"/>
            <a:ext cx="4069080" cy="1508760"/>
          </a:xfrm>
          <a:prstGeom prst="rect">
            <a:avLst/>
          </a:prstGeom>
          <a:solidFill>
            <a:srgbClr val="2D7D50"/>
          </a:solidFill>
          <a:ln w="12700">
            <a:solidFill>
              <a:srgbClr val="2D7D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2898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Circularity Score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3291840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4π·aire/périmètre² du contour Canny dans la ROI.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cercle parfait → 1.0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: &gt; 0.45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4572000"/>
            <a:ext cx="8686800" cy="384048"/>
          </a:xfrm>
          <a:prstGeom prst="rect">
            <a:avLst/>
          </a:prstGeom>
          <a:solidFill>
            <a:srgbClr val="E0F4ED"/>
          </a:solidFill>
          <a:ln w="12700">
            <a:solidFill>
              <a:srgbClr val="A0D4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608576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de vote 2/4 : un cercle est rejeté seulement si au moins 2 critères échouent  →  NMS par IoU (seuil 2%) pour supprimer les doublons résiduels (+5 pts de F1)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Étape 4 · Classification — Les 3 Groupes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743200" cy="3794760"/>
          </a:xfrm>
          <a:prstGeom prst="rect">
            <a:avLst/>
          </a:prstGeom>
          <a:solidFill>
            <a:srgbClr val="FDF0E8"/>
          </a:solidFill>
          <a:ln w="12700">
            <a:solidFill>
              <a:srgbClr val="8B451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97280"/>
            <a:ext cx="2743200" cy="59436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Cuivre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1810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2057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1¢  ·  2¢  ·  5¢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404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Matériau 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651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Acier recouvert de cuivre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9992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3246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Teinte HSV : H ≈ 11–14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35935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Diamètres 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3840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16.25 · 18.75 · 21.25 mm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4251960"/>
            <a:ext cx="2560320" cy="548640"/>
          </a:xfrm>
          <a:prstGeom prst="rect">
            <a:avLst/>
          </a:prstGeom>
          <a:solidFill>
            <a:srgbClr val="F0F9F4"/>
          </a:solidFill>
          <a:ln w="12700">
            <a:solidFill>
              <a:srgbClr val="C0E0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2793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facile à identifier : couleur rouge-brun très distinctive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72968" y="1097280"/>
            <a:ext cx="2743200" cy="3794760"/>
          </a:xfrm>
          <a:prstGeom prst="rect">
            <a:avLst/>
          </a:prstGeom>
          <a:solidFill>
            <a:srgbClr val="FDF8E1"/>
          </a:solidFill>
          <a:ln w="12700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72968" y="1097280"/>
            <a:ext cx="2743200" cy="5943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1143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 nordique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64408" y="1810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64408" y="2057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10¢  ·  20¢  ·  50¢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64408" y="2404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Matériau 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64408" y="2651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Alliage «Nordic Gold»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64408" y="29992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64408" y="3246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Teinte HSV : H ≈ 20–26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64408" y="35935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Diamètres 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64408" y="3840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19.75 · 22.25 · 24.25 mm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64408" y="4251960"/>
            <a:ext cx="2560320" cy="548640"/>
          </a:xfrm>
          <a:prstGeom prst="rect">
            <a:avLst/>
          </a:prstGeom>
          <a:solidFill>
            <a:srgbClr val="F0F9F4"/>
          </a:solidFill>
          <a:ln w="12700">
            <a:solidFill>
              <a:srgbClr val="C0E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42793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Proche du cuivre en teinte → nécessite un scoring précis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17336" y="1097280"/>
            <a:ext cx="2743200" cy="3794760"/>
          </a:xfrm>
          <a:prstGeom prst="rect">
            <a:avLst/>
          </a:prstGeom>
          <a:solidFill>
            <a:srgbClr val="E8F1F8"/>
          </a:solidFill>
          <a:ln w="12700">
            <a:solidFill>
              <a:srgbClr val="4A7B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17336" y="1097280"/>
            <a:ext cx="2743200" cy="594360"/>
          </a:xfrm>
          <a:prstGeom prst="rect">
            <a:avLst/>
          </a:prstGeom>
          <a:solidFill>
            <a:srgbClr val="4A7B9D"/>
          </a:solidFill>
          <a:ln w="12700">
            <a:solidFill>
              <a:srgbClr val="4A7B9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08776" y="1143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Bimétal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208776" y="1810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08776" y="2057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1€  ·  2€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08776" y="2404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Matériau 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08776" y="2651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alliages : centre + couronne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08776" y="29992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08776" y="3246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1€ : centre argent + couronne 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2€ : centre or + couronne argent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08776" y="35935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Diamètres :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08776" y="3840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23.25 · 25.75 mm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08776" y="4251960"/>
            <a:ext cx="2560320" cy="548640"/>
          </a:xfrm>
          <a:prstGeom prst="rect">
            <a:avLst/>
          </a:prstGeom>
          <a:solidFill>
            <a:srgbClr val="F0F9F4"/>
          </a:solidFill>
          <a:ln w="12700">
            <a:solidFill>
              <a:srgbClr val="C0E0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54496" y="42793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bimétal par profil radial et K-means k=2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Étape 4 · Classification — Vote Pondéré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97280"/>
            <a:ext cx="2743200" cy="502920"/>
          </a:xfrm>
          <a:prstGeom prst="rect">
            <a:avLst/>
          </a:prstGeom>
          <a:solidFill>
            <a:srgbClr val="0A5455"/>
          </a:solidFill>
          <a:ln w="12700">
            <a:solidFill>
              <a:srgbClr val="0A54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6128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61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455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17957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Voteur HSV + Taille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67335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des blancs Gray-World (corrige dominante couleur)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226771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sur canal L (normalise la luminosité)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286207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sigmoïde/gaussien sur teinte H (cuivre vs or)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345643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de valeur par minimisation des ratios de diamètres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72968" y="109728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1097280"/>
            <a:ext cx="2743200" cy="502920"/>
          </a:xfrm>
          <a:prstGeom prst="rect">
            <a:avLst/>
          </a:prstGeom>
          <a:solidFill>
            <a:srgbClr val="0F6E47"/>
          </a:solidFill>
          <a:ln w="12700">
            <a:solidFill>
              <a:srgbClr val="0F6E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64408" y="116128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1161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47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21608" y="117957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Voteur Filtres RGB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64408" y="167335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normalisés : R/(R+G+B), G/(R+G+B), B/(R+G+B)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64408" y="226771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 à l'éclairage global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64408" y="286207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aux signatures de référence par groupe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64408" y="345643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×1.3 pour le groupe cuivre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17336" y="109728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17336" y="1097280"/>
            <a:ext cx="2743200" cy="502920"/>
          </a:xfrm>
          <a:prstGeom prst="rect">
            <a:avLst/>
          </a:prstGeom>
          <a:solidFill>
            <a:srgbClr val="4A7B9D"/>
          </a:solidFill>
          <a:ln w="12700">
            <a:solidFill>
              <a:srgbClr val="4A7B9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08776" y="116128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08776" y="1161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B9D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65976" y="117957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Voteur Bimétal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08776" y="167335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radial : saturation sur 20 anneaux concentriques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08776" y="226771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 un saut maximal → signal bimétal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08776" y="286207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k=2 sur canaux a,b de LAB (chrominance)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08776" y="345643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: 0.8×radial + 0.2×kmeans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" y="4315968"/>
            <a:ext cx="8686800" cy="64008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43891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sur le groupe : cuivre · or · bimétal → groupe élu → meilleure valeur dans ce groupe → cohérence inter-pièces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Détection Bimétal — Profil Radial + K-means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radial de saturation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4160520"/>
            <a:ext cx="35661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0" cy="23317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28346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Anneau (centre → bord)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94360" y="3739896"/>
            <a:ext cx="213360" cy="420624"/>
          </a:xfrm>
          <a:prstGeom prst="rect">
            <a:avLst/>
          </a:prstGeom>
          <a:solidFill>
            <a:srgbClr val="9999CC"/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6008" y="3697834"/>
            <a:ext cx="213360" cy="462686"/>
          </a:xfrm>
          <a:prstGeom prst="rect">
            <a:avLst/>
          </a:prstGeom>
          <a:solidFill>
            <a:srgbClr val="9999CC"/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7656" y="3634740"/>
            <a:ext cx="213360" cy="525780"/>
          </a:xfrm>
          <a:prstGeom prst="rect">
            <a:avLst/>
          </a:prstGeom>
          <a:solidFill>
            <a:srgbClr val="9999CC"/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9304" y="3571646"/>
            <a:ext cx="213360" cy="588874"/>
          </a:xfrm>
          <a:prstGeom prst="rect">
            <a:avLst/>
          </a:prstGeom>
          <a:solidFill>
            <a:srgbClr val="9999CC"/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20952" y="3529584"/>
            <a:ext cx="213360" cy="630936"/>
          </a:xfrm>
          <a:prstGeom prst="rect">
            <a:avLst/>
          </a:prstGeom>
          <a:solidFill>
            <a:srgbClr val="9999CC"/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52600" y="3571646"/>
            <a:ext cx="213360" cy="588874"/>
          </a:xfrm>
          <a:prstGeom prst="rect">
            <a:avLst/>
          </a:prstGeom>
          <a:solidFill>
            <a:srgbClr val="9999CC"/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84248" y="3003804"/>
            <a:ext cx="213360" cy="1156716"/>
          </a:xfrm>
          <a:prstGeom prst="rect">
            <a:avLst/>
          </a:prstGeom>
          <a:solidFill>
            <a:srgbClr val="9999CC"/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15896" y="2478024"/>
            <a:ext cx="213360" cy="1682496"/>
          </a:xfrm>
          <a:prstGeom prst="rect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47544" y="2267712"/>
            <a:ext cx="213360" cy="1892808"/>
          </a:xfrm>
          <a:prstGeom prst="rect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9192" y="2309774"/>
            <a:ext cx="213360" cy="1850746"/>
          </a:xfrm>
          <a:prstGeom prst="rect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10840" y="2372868"/>
            <a:ext cx="213360" cy="1787652"/>
          </a:xfrm>
          <a:prstGeom prst="rect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42488" y="2435962"/>
            <a:ext cx="213360" cy="1724558"/>
          </a:xfrm>
          <a:prstGeom prst="rect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74136" y="2478024"/>
            <a:ext cx="213360" cy="1682496"/>
          </a:xfrm>
          <a:prstGeom prst="rect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05784" y="2520086"/>
            <a:ext cx="213360" cy="1640434"/>
          </a:xfrm>
          <a:prstGeom prst="rect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37432" y="2583180"/>
            <a:ext cx="213360" cy="1577340"/>
          </a:xfrm>
          <a:prstGeom prst="rect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15896" y="1828800"/>
            <a:ext cx="0" cy="2331720"/>
          </a:xfrm>
          <a:prstGeom prst="line">
            <a:avLst/>
          </a:prstGeom>
          <a:noFill/>
          <a:ln w="19050">
            <a:solidFill>
              <a:srgbClr val="E53E3E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2033016" y="18745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94360" y="4498848"/>
            <a:ext cx="201168" cy="146304"/>
          </a:xfrm>
          <a:prstGeom prst="rect">
            <a:avLst/>
          </a:prstGeom>
          <a:solidFill>
            <a:srgbClr val="9999CC"/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4897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(argent)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286000" y="4498848"/>
            <a:ext cx="201168" cy="146304"/>
          </a:xfrm>
          <a:prstGeom prst="rect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44897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Couronne (or) — 1€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63440" y="1097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k=2 sur chrominance LAB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663440" y="1508760"/>
            <a:ext cx="4297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54880" y="1572768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du disque projetés dans l'espace a,b de LAB (chrominance uniquement)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54880" y="1892808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avec k=2 → 2 centres de couleur dominants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54880" y="2212848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inter-clusters : bimétal ≈ 8-15 · monométal ≈ 2-5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54880" y="2532888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normalisé : sep / 12.0 (clippé à [0,1])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2999232"/>
            <a:ext cx="4297680" cy="173736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00600" y="3063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Post-traitement : Cohérence inter-pièces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00600" y="34747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groupe avec ≥ 2 pièces 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Trier par rayon croissant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Énumérer toutes les combinaisons monotones de dénominations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Minimiser Σ |ratio_observé − ratio_théorique|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Ré-assigner si erreur &lt; 0.30 et confiance &lt; 0.75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Résultats — Détection des Pièces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51760" cy="1691640"/>
          </a:xfrm>
          <a:prstGeom prst="rect">
            <a:avLst/>
          </a:prstGeom>
          <a:solidFill>
            <a:srgbClr val="0F6E47"/>
          </a:solidFill>
          <a:ln w="12700">
            <a:solidFill>
              <a:srgbClr val="0F6E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0700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84.86%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2084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4140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(TP+FP)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51760" cy="1691640"/>
          </a:xfrm>
          <a:prstGeom prst="rect">
            <a:avLst/>
          </a:prstGeom>
          <a:solidFill>
            <a:srgbClr val="0A5455"/>
          </a:solidFill>
          <a:ln w="12700">
            <a:solidFill>
              <a:srgbClr val="0A54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20700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81.62%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91840" y="2084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4140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(TP+FN)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51760" cy="169164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20700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83.21%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217920" y="2084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24140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Harmonie P/R</a:t>
            </a:r>
            <a:endParaRPr lang="en-US" sz="9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74320" y="2880360"/>
          <a:ext cx="548640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5943600" y="2880360"/>
            <a:ext cx="29718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080760" y="29443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Test (119 images)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080760" y="33558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Vrais positifs (TP)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138160" y="3383280"/>
            <a:ext cx="640080" cy="274320"/>
          </a:xfrm>
          <a:prstGeom prst="rect">
            <a:avLst/>
          </a:prstGeom>
          <a:solidFill>
            <a:srgbClr val="0F6E47"/>
          </a:solidFill>
          <a:ln w="12700">
            <a:solidFill>
              <a:srgbClr val="0F6E4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38160" y="3383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342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080760" y="3831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positifs (FP)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138160" y="3858768"/>
            <a:ext cx="640080" cy="2743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38160" y="3858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61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080760" y="43068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négatifs (FN)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138160" y="4334256"/>
            <a:ext cx="640080" cy="2743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138160" y="43342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77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Résultats — Classification des Valeurs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011680" cy="914400"/>
          </a:xfrm>
          <a:prstGeom prst="rect">
            <a:avLst/>
          </a:prstGeom>
          <a:solidFill>
            <a:srgbClr val="0F6E47"/>
          </a:solidFill>
          <a:ln w="12700">
            <a:solidFill>
              <a:srgbClr val="0F6E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97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37.2%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1627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micro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051560"/>
            <a:ext cx="2011680" cy="914400"/>
          </a:xfrm>
          <a:prstGeom prst="rect">
            <a:avLst/>
          </a:prstGeom>
          <a:solidFill>
            <a:srgbClr val="0A5455"/>
          </a:solidFill>
          <a:ln w="12700">
            <a:solidFill>
              <a:srgbClr val="0A54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097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37.7%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23160" y="1627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051560"/>
            <a:ext cx="2011680" cy="914400"/>
          </a:xfrm>
          <a:prstGeom prst="rect">
            <a:avLst/>
          </a:prstGeom>
          <a:solidFill>
            <a:srgbClr val="1A5E3E"/>
          </a:solidFill>
          <a:ln w="12700">
            <a:solidFill>
              <a:srgbClr val="1A5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097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38.0%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17720" y="1627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1051560"/>
            <a:ext cx="2011680" cy="91440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097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36.5%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12280" y="1627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28600" y="2103120"/>
          <a:ext cx="5303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5715000" y="2103120"/>
            <a:ext cx="3200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852160" y="21762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par classe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806440" y="2523744"/>
            <a:ext cx="411480" cy="27432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06440" y="25237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217920" y="2523744"/>
            <a:ext cx="621792" cy="27432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0" y="2523744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F1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839712" y="2523744"/>
            <a:ext cx="621792" cy="27432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39712" y="2523744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461504" y="2523744"/>
            <a:ext cx="621792" cy="27432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61504" y="2523744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806440" y="2816352"/>
            <a:ext cx="411480" cy="246888"/>
          </a:xfrm>
          <a:prstGeom prst="rect">
            <a:avLst/>
          </a:prstGeom>
          <a:solidFill>
            <a:srgbClr val="F0F9F4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281635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1¢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217920" y="2816352"/>
            <a:ext cx="621792" cy="246888"/>
          </a:xfrm>
          <a:prstGeom prst="rect">
            <a:avLst/>
          </a:prstGeom>
          <a:solidFill>
            <a:srgbClr val="F0F9F4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0" y="2816352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48.6%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839712" y="2816352"/>
            <a:ext cx="621792" cy="246888"/>
          </a:xfrm>
          <a:prstGeom prst="rect">
            <a:avLst/>
          </a:prstGeom>
          <a:solidFill>
            <a:srgbClr val="F0F9F4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39712" y="2816352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68.0%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461504" y="2816352"/>
            <a:ext cx="621792" cy="246888"/>
          </a:xfrm>
          <a:prstGeom prst="rect">
            <a:avLst/>
          </a:prstGeom>
          <a:solidFill>
            <a:srgbClr val="F0F9F4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61504" y="2816352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37.8%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806440" y="3067812"/>
            <a:ext cx="4114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806440" y="306781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2¢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217920" y="3067812"/>
            <a:ext cx="621792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217920" y="3067812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40.0%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839712" y="3067812"/>
            <a:ext cx="621792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839712" y="3067812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53.3%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461504" y="3067812"/>
            <a:ext cx="621792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461504" y="3067812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32.0%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806440" y="3319272"/>
            <a:ext cx="411480" cy="246888"/>
          </a:xfrm>
          <a:prstGeom prst="rect">
            <a:avLst/>
          </a:prstGeom>
          <a:solidFill>
            <a:srgbClr val="F0F9F4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806440" y="331927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5¢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6217920" y="3319272"/>
            <a:ext cx="621792" cy="246888"/>
          </a:xfrm>
          <a:prstGeom prst="rect">
            <a:avLst/>
          </a:prstGeom>
          <a:solidFill>
            <a:srgbClr val="F0F9F4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217920" y="3319272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30.5%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839712" y="3319272"/>
            <a:ext cx="621792" cy="246888"/>
          </a:xfrm>
          <a:prstGeom prst="rect">
            <a:avLst/>
          </a:prstGeom>
          <a:solidFill>
            <a:srgbClr val="F0F9F4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839712" y="3319272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32.1%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461504" y="3319272"/>
            <a:ext cx="621792" cy="246888"/>
          </a:xfrm>
          <a:prstGeom prst="rect">
            <a:avLst/>
          </a:prstGeom>
          <a:solidFill>
            <a:srgbClr val="F0F9F4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461504" y="3319272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29.0%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5806440" y="3570732"/>
            <a:ext cx="4114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806440" y="357073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10¢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6217920" y="3570732"/>
            <a:ext cx="621792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217920" y="3570732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27.4%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6839712" y="3570732"/>
            <a:ext cx="621792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839712" y="3570732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30.4%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7461504" y="3570732"/>
            <a:ext cx="621792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461504" y="3570732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25.0%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5806440" y="3822192"/>
            <a:ext cx="411480" cy="246888"/>
          </a:xfrm>
          <a:prstGeom prst="rect">
            <a:avLst/>
          </a:prstGeom>
          <a:solidFill>
            <a:srgbClr val="F0F9F4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806440" y="382219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20¢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6217920" y="3822192"/>
            <a:ext cx="621792" cy="246888"/>
          </a:xfrm>
          <a:prstGeom prst="rect">
            <a:avLst/>
          </a:prstGeom>
          <a:solidFill>
            <a:srgbClr val="F0F9F4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217920" y="3822192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32.5%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6839712" y="3822192"/>
            <a:ext cx="621792" cy="246888"/>
          </a:xfrm>
          <a:prstGeom prst="rect">
            <a:avLst/>
          </a:prstGeom>
          <a:solidFill>
            <a:srgbClr val="F0F9F4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839712" y="3822192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44.8%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7461504" y="3822192"/>
            <a:ext cx="621792" cy="246888"/>
          </a:xfrm>
          <a:prstGeom prst="rect">
            <a:avLst/>
          </a:prstGeom>
          <a:solidFill>
            <a:srgbClr val="F0F9F4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7461504" y="3822192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25.5%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5806440" y="4073652"/>
            <a:ext cx="4114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806440" y="407365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50¢</a:t>
            </a:r>
            <a:endParaRPr lang="en-US" sz="850" dirty="0"/>
          </a:p>
        </p:txBody>
      </p:sp>
      <p:sp>
        <p:nvSpPr>
          <p:cNvPr id="69" name="Shape 66"/>
          <p:cNvSpPr/>
          <p:nvPr/>
        </p:nvSpPr>
        <p:spPr>
          <a:xfrm>
            <a:off x="6217920" y="4073652"/>
            <a:ext cx="621792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217920" y="4073652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39.3%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6839712" y="4073652"/>
            <a:ext cx="621792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6839712" y="4073652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35.4%</a:t>
            </a:r>
            <a:endParaRPr lang="en-US" sz="850" dirty="0"/>
          </a:p>
        </p:txBody>
      </p:sp>
      <p:sp>
        <p:nvSpPr>
          <p:cNvPr id="73" name="Shape 70"/>
          <p:cNvSpPr/>
          <p:nvPr/>
        </p:nvSpPr>
        <p:spPr>
          <a:xfrm>
            <a:off x="7461504" y="4073652"/>
            <a:ext cx="621792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461504" y="4073652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44.2%</a:t>
            </a:r>
            <a:endParaRPr lang="en-US" sz="850" dirty="0"/>
          </a:p>
        </p:txBody>
      </p:sp>
      <p:sp>
        <p:nvSpPr>
          <p:cNvPr id="75" name="Shape 72"/>
          <p:cNvSpPr/>
          <p:nvPr/>
        </p:nvSpPr>
        <p:spPr>
          <a:xfrm>
            <a:off x="5806440" y="4325112"/>
            <a:ext cx="411480" cy="246888"/>
          </a:xfrm>
          <a:prstGeom prst="rect">
            <a:avLst/>
          </a:prstGeom>
          <a:solidFill>
            <a:srgbClr val="F0F9F4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5806440" y="432511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1€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6217920" y="4325112"/>
            <a:ext cx="621792" cy="246888"/>
          </a:xfrm>
          <a:prstGeom prst="rect">
            <a:avLst/>
          </a:prstGeom>
          <a:solidFill>
            <a:srgbClr val="F0F9F4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6217920" y="4325112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33.9%</a:t>
            </a:r>
            <a:endParaRPr lang="en-US" sz="850" dirty="0"/>
          </a:p>
        </p:txBody>
      </p:sp>
      <p:sp>
        <p:nvSpPr>
          <p:cNvPr id="79" name="Shape 76"/>
          <p:cNvSpPr/>
          <p:nvPr/>
        </p:nvSpPr>
        <p:spPr>
          <a:xfrm>
            <a:off x="6839712" y="4325112"/>
            <a:ext cx="621792" cy="246888"/>
          </a:xfrm>
          <a:prstGeom prst="rect">
            <a:avLst/>
          </a:prstGeom>
          <a:solidFill>
            <a:srgbClr val="F0F9F4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6839712" y="4325112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27.0%</a:t>
            </a:r>
            <a:endParaRPr lang="en-US" sz="850" dirty="0"/>
          </a:p>
        </p:txBody>
      </p:sp>
      <p:sp>
        <p:nvSpPr>
          <p:cNvPr id="81" name="Shape 78"/>
          <p:cNvSpPr/>
          <p:nvPr/>
        </p:nvSpPr>
        <p:spPr>
          <a:xfrm>
            <a:off x="7461504" y="4325112"/>
            <a:ext cx="621792" cy="246888"/>
          </a:xfrm>
          <a:prstGeom prst="rect">
            <a:avLst/>
          </a:prstGeom>
          <a:solidFill>
            <a:srgbClr val="F0F9F4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7461504" y="4325112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45.5%</a:t>
            </a:r>
            <a:endParaRPr lang="en-US" sz="850" dirty="0"/>
          </a:p>
        </p:txBody>
      </p:sp>
      <p:sp>
        <p:nvSpPr>
          <p:cNvPr id="83" name="Shape 80"/>
          <p:cNvSpPr/>
          <p:nvPr/>
        </p:nvSpPr>
        <p:spPr>
          <a:xfrm>
            <a:off x="5806440" y="4576572"/>
            <a:ext cx="4114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5806440" y="457657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2€</a:t>
            </a:r>
            <a:endParaRPr lang="en-US" sz="850" dirty="0"/>
          </a:p>
        </p:txBody>
      </p:sp>
      <p:sp>
        <p:nvSpPr>
          <p:cNvPr id="85" name="Shape 82"/>
          <p:cNvSpPr/>
          <p:nvPr/>
        </p:nvSpPr>
        <p:spPr>
          <a:xfrm>
            <a:off x="6217920" y="4576572"/>
            <a:ext cx="621792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6217920" y="4576572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49.3%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6839712" y="4576572"/>
            <a:ext cx="621792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6839712" y="4576572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40.2%</a:t>
            </a:r>
            <a:endParaRPr lang="en-US" sz="850" dirty="0"/>
          </a:p>
        </p:txBody>
      </p:sp>
      <p:sp>
        <p:nvSpPr>
          <p:cNvPr id="89" name="Shape 86"/>
          <p:cNvSpPr/>
          <p:nvPr/>
        </p:nvSpPr>
        <p:spPr>
          <a:xfrm>
            <a:off x="7461504" y="4576572"/>
            <a:ext cx="621792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D8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7461504" y="4576572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63.5%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des Résultats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4114800" cy="3794760"/>
          </a:xfrm>
          <a:prstGeom prst="rect">
            <a:avLst/>
          </a:prstGeom>
          <a:solidFill>
            <a:srgbClr val="E6F7EF"/>
          </a:solidFill>
          <a:ln w="12700">
            <a:solidFill>
              <a:srgbClr val="80C8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97280"/>
            <a:ext cx="4114800" cy="502920"/>
          </a:xfrm>
          <a:prstGeom prst="rect">
            <a:avLst/>
          </a:prstGeom>
          <a:solidFill>
            <a:srgbClr val="0F6E47"/>
          </a:solidFill>
          <a:ln w="12700">
            <a:solidFill>
              <a:srgbClr val="0F6E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612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fonctionne bien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673352"/>
            <a:ext cx="3886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robuste : F1 83% → dépasse l'objectif initial de 70%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2185416"/>
            <a:ext cx="3886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par IoU : +5 pts de précision sans perte de rappel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2697480"/>
            <a:ext cx="3886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1¢ et 2€ : les meilleures F1 (&gt;48%) grâce à leurs couleurs distinctives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3209544"/>
            <a:ext cx="3886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surapprentissage : test ≥ train sur toutes les métriques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3721608"/>
            <a:ext cx="3886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inter-pièces améliore la classification quand plusieurs pièces du même groupe sont présentes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4233672"/>
            <a:ext cx="3886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complète permettant de comparer 4 méthodes simultanément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097280"/>
            <a:ext cx="4206240" cy="3794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0A0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097280"/>
            <a:ext cx="420624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1612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identifiées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167335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à 37% : plafond classique, ambiguïté géométrique entre 5¢/20¢ et 50¢/2€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226771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10¢ : F1 le plus bas (27%) — taille proche du 20¢, couleur similaire à l'or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286207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mono-pièce sans référence : impossible de calibrer le diamètre réel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34564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Éclairage coloré : fausse la teinte HSV, change le groupe assigné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405079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 texturés : bords parasites → faux positifs en détection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et Difficultés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1097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5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la détection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55448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554480"/>
            <a:ext cx="73152" cy="749808"/>
          </a:xfrm>
          <a:prstGeom prst="rect">
            <a:avLst/>
          </a:prstGeom>
          <a:solidFill>
            <a:srgbClr val="0A5455"/>
          </a:solidFill>
          <a:ln w="12700">
            <a:solidFill>
              <a:srgbClr val="0A54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6093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5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 texturés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" y="1920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Bords parasites → faux positifs (bois, tissu, papier)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2395728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395728"/>
            <a:ext cx="73152" cy="749808"/>
          </a:xfrm>
          <a:prstGeom prst="rect">
            <a:avLst/>
          </a:prstGeom>
          <a:solidFill>
            <a:srgbClr val="0A5455"/>
          </a:solidFill>
          <a:ln w="12700">
            <a:solidFill>
              <a:srgbClr val="0A54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2450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5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peu contrastées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" y="27614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insuffisant → faux négatifs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3236976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236976"/>
            <a:ext cx="73152" cy="749808"/>
          </a:xfrm>
          <a:prstGeom prst="rect">
            <a:avLst/>
          </a:prstGeom>
          <a:solidFill>
            <a:srgbClr val="0A5455"/>
          </a:solidFill>
          <a:ln w="12700">
            <a:solidFill>
              <a:srgbClr val="0A54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3291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5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 circulaires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" y="36027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Pièces, boutons, logos : Hough ne connaît pas le contexte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4078224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4078224"/>
            <a:ext cx="73152" cy="749808"/>
          </a:xfrm>
          <a:prstGeom prst="rect">
            <a:avLst/>
          </a:prstGeom>
          <a:solidFill>
            <a:srgbClr val="0A5455"/>
          </a:solidFill>
          <a:ln w="12700">
            <a:solidFill>
              <a:srgbClr val="0A54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4133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5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superposées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3192" y="44439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Arcs incomplets → Hough ne détecte pas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1097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la classification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155448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1554480"/>
            <a:ext cx="73152" cy="749808"/>
          </a:xfrm>
          <a:prstGeom prst="rect">
            <a:avLst/>
          </a:prstGeom>
          <a:solidFill>
            <a:srgbClr val="4A7B9D"/>
          </a:solidFill>
          <a:ln w="12700">
            <a:solidFill>
              <a:srgbClr val="4A7B9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65192" y="16093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seule pièce par groupe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65192" y="1920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inutilisables → dépend uniquement de la couleur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0600" y="2395728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2395728"/>
            <a:ext cx="73152" cy="749808"/>
          </a:xfrm>
          <a:prstGeom prst="rect">
            <a:avLst/>
          </a:prstGeom>
          <a:solidFill>
            <a:srgbClr val="4A7B9D"/>
          </a:solidFill>
          <a:ln w="12700">
            <a:solidFill>
              <a:srgbClr val="4A7B9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65192" y="2450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Éclairage coloré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65192" y="27614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Teinte HSV faussée → mauvais groupe assigné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0600" y="3236976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236976"/>
            <a:ext cx="73152" cy="749808"/>
          </a:xfrm>
          <a:prstGeom prst="rect">
            <a:avLst/>
          </a:prstGeom>
          <a:solidFill>
            <a:srgbClr val="4A7B9D"/>
          </a:solidFill>
          <a:ln w="12700">
            <a:solidFill>
              <a:srgbClr val="4A7B9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3291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usées / sales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65192" y="36027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altérée, saturation réduite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00600" y="4078224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4078224"/>
            <a:ext cx="73152" cy="749808"/>
          </a:xfrm>
          <a:prstGeom prst="rect">
            <a:avLst/>
          </a:prstGeom>
          <a:solidFill>
            <a:srgbClr val="4A7B9D"/>
          </a:solidFill>
          <a:ln w="12700">
            <a:solidFill>
              <a:srgbClr val="4A7B9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65192" y="4133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calibration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65192" y="44439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pièce de référence : impossibilité de mesurer les diamètres réels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28600" y="4645152"/>
            <a:ext cx="8686800" cy="347472"/>
          </a:xfrm>
          <a:prstGeom prst="rect">
            <a:avLst/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6817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7A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deep learning ni calibration : le système atteint son plafond théorique — les ambiguïtés restantes sont structurelles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1A5556"/>
          </a:solidFill>
          <a:ln w="12700">
            <a:solidFill>
              <a:srgbClr val="1A55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1828800" cy="1828800"/>
          </a:xfrm>
          <a:prstGeom prst="ellipse">
            <a:avLst/>
          </a:prstGeom>
          <a:solidFill>
            <a:srgbClr val="0D3233"/>
          </a:solidFill>
          <a:ln w="12700">
            <a:solidFill>
              <a:srgbClr val="0D32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6E47"/>
          </a:solidFill>
          <a:ln w="12700">
            <a:solidFill>
              <a:srgbClr val="0F6E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B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Perspectives &amp; Conclusion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3840480" cy="36576"/>
          </a:xfrm>
          <a:prstGeom prst="rect">
            <a:avLst/>
          </a:prstGeom>
          <a:solidFill>
            <a:srgbClr val="0F6E47"/>
          </a:solidFill>
          <a:ln w="12700">
            <a:solidFill>
              <a:srgbClr val="0F6E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618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9105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Hough (plusieurs résolutions)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8928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RANSAC sur contours (images texturées)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1945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pour une robustesse maximale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2618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159105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automatique par pièce connue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09160" y="18928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Descripteurs LBP/GLCM (texture)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09160" y="21945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MobileNet/CNN léger → &gt;90% F1 estimé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26334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96265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vidéo temps réel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32644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JSON des résultats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35661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7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4005072"/>
            <a:ext cx="8412480" cy="914400"/>
          </a:xfrm>
          <a:prstGeom prst="rect">
            <a:avLst/>
          </a:prstGeom>
          <a:solidFill>
            <a:srgbClr val="0F6E47"/>
          </a:solidFill>
          <a:ln w="12700">
            <a:solidFill>
              <a:srgbClr val="0F6E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409651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détection 83.2%  ·  Classification 37.2% F1 (sans deep learning)  ·  Pipeline complet, évalué, interfacé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Détection et Classification de Pièces d'Euros</dc:title>
  <dc:subject>PptxGenJS Presentation</dc:subject>
  <dc:creator>PptxGenJS</dc:creator>
  <cp:lastModifiedBy>PptxGenJS</cp:lastModifiedBy>
  <cp:revision>1</cp:revision>
  <dcterms:created xsi:type="dcterms:W3CDTF">2026-05-24T22:42:49Z</dcterms:created>
  <dcterms:modified xsi:type="dcterms:W3CDTF">2026-05-24T22:42:49Z</dcterms:modified>
</cp:coreProperties>
</file>